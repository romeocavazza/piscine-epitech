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764" r:id="rId3"/>
    <p:sldId id="2833" r:id="rId4"/>
    <p:sldId id="2834" r:id="rId5"/>
    <p:sldId id="2835" r:id="rId6"/>
    <p:sldId id="2827" r:id="rId7"/>
    <p:sldId id="2836" r:id="rId8"/>
    <p:sldId id="286" r:id="rId9"/>
  </p:sldIdLst>
  <p:sldSz cx="18288000" cy="10287000"/>
  <p:notesSz cx="6858000" cy="9144000"/>
  <p:embeddedFontLst>
    <p:embeddedFont>
      <p:font typeface="Anton" pitchFamily="2" charset="0"/>
      <p:regular r:id="rId11"/>
    </p:embeddedFont>
    <p:embeddedFont>
      <p:font typeface="IBM Plex Sans" panose="020B0503050203000203" pitchFamily="34" charset="0"/>
      <p:regular r:id="rId12"/>
      <p:bold r:id="rId13"/>
      <p:italic r:id="rId14"/>
      <p:boldItalic r:id="rId15"/>
    </p:embeddedFont>
    <p:embeddedFont>
      <p:font typeface="IBM Plex Sans Bold" panose="020B0803050203000203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F3A"/>
    <a:srgbClr val="013AFB"/>
    <a:srgbClr val="FF1EF7"/>
    <a:srgbClr val="00FF97"/>
    <a:srgbClr val="F989F8"/>
    <a:srgbClr val="7A97FA"/>
    <a:srgbClr val="243762"/>
    <a:srgbClr val="79FAC8"/>
    <a:srgbClr val="F9AA99"/>
    <a:srgbClr val="F1B6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126" y="10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B76B5-E838-4CDE-B056-86BB545D0439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1B5C-DC23-44B4-B152-95DBD89778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520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678D73E9-E252-24D2-8EDF-CDC6EC46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4ab649b83_0_0:notes">
            <a:extLst>
              <a:ext uri="{FF2B5EF4-FFF2-40B4-BE49-F238E27FC236}">
                <a16:creationId xmlns:a16="http://schemas.microsoft.com/office/drawing/2014/main" id="{8F66A3BC-DD5A-C8E2-B41B-74FEE55BE9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28" name="Google Shape;128;g344ab649b83_0_0:notes">
            <a:extLst>
              <a:ext uri="{FF2B5EF4-FFF2-40B4-BE49-F238E27FC236}">
                <a16:creationId xmlns:a16="http://schemas.microsoft.com/office/drawing/2014/main" id="{3B418E93-1BBD-CDE6-54F0-565CCFD9C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8913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2F98D-CDE3-67D6-0111-8E55D116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D99A54-767F-1611-E910-FFDEA42AE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AC9A1C-8093-F493-8F14-DF0D8C0B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7F8369-01A0-E7E9-AD5C-F83C4E044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1B5C-DC23-44B4-B152-95DBD897783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4509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23DEE-AB49-E8F9-B128-CCDCD508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25A978F-1925-0A19-926B-EA9478664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4D1DD75-2C5A-FEE4-764E-F71949ECF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4CBF68-AC8D-7592-A5FE-E488C08E0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1B5C-DC23-44B4-B152-95DBD897783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575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0AF6E-5E3E-3425-F02D-7B0D28833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F1E9419-F480-36CB-BBC3-DCDC1C1EA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D482B81-2FF5-B2F6-FE66-3C9308359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E498ED-4729-445A-CF7A-4C4DFDCE1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1B5C-DC23-44B4-B152-95DBD897783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63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B7B1-5F2F-4700-A183-AA243B4296B4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0AC7-EFF6-4AAB-B943-9FABFF274B2D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D2C2F9B-23B6-ED38-BBCC-8088F089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0CD8-03FC-4B15-80F7-EA6F8AC74895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32F4FBD-EA03-EEEE-7EAD-F1D0E738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734F-7153-4004-AF6D-19EC8218AB37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6405E86-41D6-C6CF-C4E9-44BD0551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E9CC1-C909-47A7-A118-90822CC61CBB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D937CA9-D6AA-D322-4034-A4E9E86ED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FAA3-9EC8-4F50-8FE3-659FE79C7961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325BF-3573-423B-BAB5-31E764C1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2A16-92ED-4CB3-8ACC-5E35F418439D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514608-F584-8E3E-5AD9-F653B5D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1DE5-0FC7-436B-9DD4-52DE034EFECA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0808A2-3596-0428-ED06-D987BC0E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7E11-0257-4E78-8743-4CF449F4DDA4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9C65BAE-4BB4-794D-E45F-5A8C69BA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4DCC-84B2-48D3-8F31-EF24F0C76417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EF15E9-1994-E694-0214-9CEF74ED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E077-C0CD-4BD3-BFAC-D860DC74CF5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89B66F0-F587-6603-95BE-7A0604CB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position personnalisée"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C8AF4-3B10-7490-023F-BB99D3B16B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621" y="534749"/>
            <a:ext cx="10931825" cy="1988345"/>
          </a:xfrm>
        </p:spPr>
        <p:txBody>
          <a:bodyPr>
            <a:normAutofit/>
          </a:bodyPr>
          <a:lstStyle>
            <a:lvl1pPr>
              <a:defRPr sz="12900">
                <a:solidFill>
                  <a:srgbClr val="FFFFFF"/>
                </a:solidFill>
                <a:latin typeface="Anton" pitchFamily="2" charset="0"/>
              </a:defRPr>
            </a:lvl1pPr>
          </a:lstStyle>
          <a:p>
            <a:r>
              <a:rPr lang="fr-FR" dirty="0"/>
              <a:t>CITATION_</a:t>
            </a:r>
          </a:p>
        </p:txBody>
      </p:sp>
      <p:pic>
        <p:nvPicPr>
          <p:cNvPr id="7" name="Google Shape;171;p23" title="Fichier 5.png">
            <a:extLst>
              <a:ext uri="{FF2B5EF4-FFF2-40B4-BE49-F238E27FC236}">
                <a16:creationId xmlns:a16="http://schemas.microsoft.com/office/drawing/2014/main" id="{D1C261A9-F05A-F2AE-CD88-EDA78635C059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50"/>
          <a:stretch/>
        </p:blipFill>
        <p:spPr>
          <a:xfrm>
            <a:off x="11852694" y="-1"/>
            <a:ext cx="6435306" cy="84937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BE4672D-2F38-39DB-A209-D26482C908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621" y="4567238"/>
            <a:ext cx="10932005" cy="1604963"/>
          </a:xfrm>
        </p:spPr>
        <p:txBody>
          <a:bodyPr>
            <a:noAutofit/>
          </a:bodyPr>
          <a:lstStyle>
            <a:lvl1pPr marL="0" indent="0" algn="ctr">
              <a:buNone/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1pPr>
            <a:lvl2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2pPr>
            <a:lvl3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3pPr>
            <a:lvl4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4pPr>
            <a:lvl5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 dirty="0"/>
              <a:t>&lt; Vous pouvez sur cette slide inclure</a:t>
            </a:r>
          </a:p>
          <a:p>
            <a:pPr lvl="0"/>
            <a:r>
              <a:rPr lang="fr-FR" dirty="0"/>
              <a:t>Une citation à mettre en avant. /&gt;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16954CBA-20C8-1F3B-8126-568401777A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5621" y="6413290"/>
            <a:ext cx="10932005" cy="1604963"/>
          </a:xfrm>
        </p:spPr>
        <p:txBody>
          <a:bodyPr>
            <a:noAutofit/>
          </a:bodyPr>
          <a:lstStyle>
            <a:lvl1pPr marL="0" indent="0" algn="ctr">
              <a:buNone/>
              <a:defRPr sz="2550" i="1">
                <a:solidFill>
                  <a:srgbClr val="FFFFFF"/>
                </a:solidFill>
                <a:latin typeface="IBM Plex Sans" panose="020B0503050203000203" pitchFamily="34" charset="0"/>
              </a:defRPr>
            </a:lvl1pPr>
            <a:lvl2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2pPr>
            <a:lvl3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3pPr>
            <a:lvl4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4pPr>
            <a:lvl5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 dirty="0"/>
              <a:t>Nom Prénom, Fonction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008D1AC-2788-6B4B-F6E0-83AE54C7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17538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BBAA3-4CCF-437B-9AEC-FF01E8CED745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258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13AFB"/>
                </a:solidFill>
                <a:latin typeface="Anton" pitchFamily="2" charset="0"/>
              </a:defRPr>
            </a:lvl1pPr>
          </a:lstStyle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en.wikipedia.org/wiki/KISS_principle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8046" y="675865"/>
            <a:ext cx="6515617" cy="1580037"/>
          </a:xfrm>
          <a:custGeom>
            <a:avLst/>
            <a:gdLst/>
            <a:ahLst/>
            <a:cxnLst/>
            <a:rect l="l" t="t" r="r" b="b"/>
            <a:pathLst>
              <a:path w="6515617" h="1580037">
                <a:moveTo>
                  <a:pt x="0" y="0"/>
                </a:moveTo>
                <a:lnTo>
                  <a:pt x="6515617" y="0"/>
                </a:lnTo>
                <a:lnTo>
                  <a:pt x="6515617" y="1580037"/>
                </a:lnTo>
                <a:lnTo>
                  <a:pt x="0" y="158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noProof="0" dirty="0"/>
          </a:p>
        </p:txBody>
      </p:sp>
      <p:sp>
        <p:nvSpPr>
          <p:cNvPr id="3" name="Freeform 3"/>
          <p:cNvSpPr/>
          <p:nvPr/>
        </p:nvSpPr>
        <p:spPr>
          <a:xfrm>
            <a:off x="9929973" y="0"/>
            <a:ext cx="8358027" cy="5589269"/>
          </a:xfrm>
          <a:custGeom>
            <a:avLst/>
            <a:gdLst/>
            <a:ahLst/>
            <a:cxnLst/>
            <a:rect l="l" t="t" r="r" b="b"/>
            <a:pathLst>
              <a:path w="8358027" h="5589269">
                <a:moveTo>
                  <a:pt x="0" y="0"/>
                </a:moveTo>
                <a:lnTo>
                  <a:pt x="8358027" y="0"/>
                </a:lnTo>
                <a:lnTo>
                  <a:pt x="8358027" y="5589269"/>
                </a:lnTo>
                <a:lnTo>
                  <a:pt x="0" y="5589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518046" y="6272569"/>
            <a:ext cx="17236554" cy="2019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0"/>
              </a:lnSpc>
              <a:spcBef>
                <a:spcPct val="0"/>
              </a:spcBef>
            </a:pPr>
            <a:r>
              <a:rPr lang="en-US" sz="12000" noProof="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KICK-OFF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1560" y="8505825"/>
            <a:ext cx="6456040" cy="752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en-US" sz="4499" b="1" noProof="0" dirty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Popeye T-DOP-501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EDBDC8C-CDA0-BC26-74E5-7802A2F7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1</a:t>
            </a:fld>
            <a:r>
              <a:rPr lang="en-US" noProof="0" dirty="0"/>
              <a:t>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6D412FA9-2792-34AE-D72D-8FDC2E588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20">
            <a:extLst>
              <a:ext uri="{FF2B5EF4-FFF2-40B4-BE49-F238E27FC236}">
                <a16:creationId xmlns:a16="http://schemas.microsoft.com/office/drawing/2014/main" id="{B94CC7CD-5D69-C1E3-15A8-BC33F0EB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&lt;</a:t>
            </a:r>
            <a:fld id="{B6F15528-21DE-4FAA-801E-634DDDAF4B2B}" type="slidenum">
              <a:rPr lang="en-US" noProof="0" smtClean="0">
                <a:solidFill>
                  <a:schemeClr val="bg1"/>
                </a:solidFill>
              </a:rPr>
              <a:pPr/>
              <a:t>2</a:t>
            </a:fld>
            <a:r>
              <a:rPr lang="en-US" noProof="0"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C13A3AD1-07A7-2E03-C560-48CE37282665}"/>
              </a:ext>
            </a:extLst>
          </p:cNvPr>
          <p:cNvSpPr txBox="1"/>
          <p:nvPr/>
        </p:nvSpPr>
        <p:spPr>
          <a:xfrm>
            <a:off x="962025" y="1108692"/>
            <a:ext cx="12560923" cy="109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Tricky situations</a:t>
            </a:r>
            <a:r>
              <a:rPr lang="en-US" sz="8800" spc="-75" noProof="0" dirty="0">
                <a:solidFill>
                  <a:srgbClr val="FF1EF7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FF1EF7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3" name="Picture 2" descr="A person with red hair and a red button&#10;&#10;Description automatically generated with medium confidence">
            <a:extLst>
              <a:ext uri="{FF2B5EF4-FFF2-40B4-BE49-F238E27FC236}">
                <a16:creationId xmlns:a16="http://schemas.microsoft.com/office/drawing/2014/main" id="{F8C8065A-6B0E-8F4A-87D4-E28E07A8423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92" r="2128"/>
          <a:stretch>
            <a:fillRect/>
          </a:stretch>
        </p:blipFill>
        <p:spPr>
          <a:xfrm>
            <a:off x="11429999" y="-9607"/>
            <a:ext cx="6858001" cy="10296607"/>
          </a:xfrm>
          <a:prstGeom prst="rect">
            <a:avLst/>
          </a:prstGeom>
        </p:spPr>
      </p:pic>
      <p:grpSp>
        <p:nvGrpSpPr>
          <p:cNvPr id="4" name="Groupe 2">
            <a:extLst>
              <a:ext uri="{FF2B5EF4-FFF2-40B4-BE49-F238E27FC236}">
                <a16:creationId xmlns:a16="http://schemas.microsoft.com/office/drawing/2014/main" id="{A30F6CEF-562B-511F-E77C-EB732A9F77AD}"/>
              </a:ext>
            </a:extLst>
          </p:cNvPr>
          <p:cNvGrpSpPr/>
          <p:nvPr/>
        </p:nvGrpSpPr>
        <p:grpSpPr>
          <a:xfrm>
            <a:off x="962025" y="3543300"/>
            <a:ext cx="9248775" cy="886058"/>
            <a:chOff x="962025" y="3771900"/>
            <a:chExt cx="6048375" cy="886058"/>
          </a:xfrm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2D1149AF-8BC2-65FF-6576-696C259C330F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11" name="Freeform 3">
                <a:extLst>
                  <a:ext uri="{FF2B5EF4-FFF2-40B4-BE49-F238E27FC236}">
                    <a16:creationId xmlns:a16="http://schemas.microsoft.com/office/drawing/2014/main" id="{A03446F7-97EE-9529-CAA6-AEA4929DFCEF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24EE665-9610-2E80-EC6D-D2854805319D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2F3D4EEC-39BB-A00B-B4C8-4C3FBB8C6499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C8DFB5E4-B79F-5B84-1A4E-9DD9183D916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8" name="TextBox 24">
              <a:extLst>
                <a:ext uri="{FF2B5EF4-FFF2-40B4-BE49-F238E27FC236}">
                  <a16:creationId xmlns:a16="http://schemas.microsoft.com/office/drawing/2014/main" id="{EFDB3263-F778-4F6A-DACC-AD9DA7918A4E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7691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Working on a project using old versions of React and PHP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12" name="Groupe 2">
            <a:extLst>
              <a:ext uri="{FF2B5EF4-FFF2-40B4-BE49-F238E27FC236}">
                <a16:creationId xmlns:a16="http://schemas.microsoft.com/office/drawing/2014/main" id="{3C3FDB25-885B-B2C5-0A03-D38DB627DED8}"/>
              </a:ext>
            </a:extLst>
          </p:cNvPr>
          <p:cNvGrpSpPr/>
          <p:nvPr/>
        </p:nvGrpSpPr>
        <p:grpSpPr>
          <a:xfrm>
            <a:off x="962025" y="4905277"/>
            <a:ext cx="9248775" cy="886058"/>
            <a:chOff x="962025" y="3771900"/>
            <a:chExt cx="6048375" cy="886058"/>
          </a:xfrm>
        </p:grpSpPr>
        <p:grpSp>
          <p:nvGrpSpPr>
            <p:cNvPr id="13" name="Group 2">
              <a:extLst>
                <a:ext uri="{FF2B5EF4-FFF2-40B4-BE49-F238E27FC236}">
                  <a16:creationId xmlns:a16="http://schemas.microsoft.com/office/drawing/2014/main" id="{FEC8E626-835C-80D1-0213-0B08203A323B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18" name="Freeform 3">
                <a:extLst>
                  <a:ext uri="{FF2B5EF4-FFF2-40B4-BE49-F238E27FC236}">
                    <a16:creationId xmlns:a16="http://schemas.microsoft.com/office/drawing/2014/main" id="{859AD3AE-4E04-AD49-0CB4-F23330AD6E3D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CBF2607-7B2C-9B9D-CE25-E3F88B15B685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16" name="Freeform 5">
                <a:extLst>
                  <a:ext uri="{FF2B5EF4-FFF2-40B4-BE49-F238E27FC236}">
                    <a16:creationId xmlns:a16="http://schemas.microsoft.com/office/drawing/2014/main" id="{8066AD3E-C313-248B-36F0-F52579E337B3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B0AF280F-A539-AF9B-0C02-65C54EF2DC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15" name="TextBox 24">
              <a:extLst>
                <a:ext uri="{FF2B5EF4-FFF2-40B4-BE49-F238E27FC236}">
                  <a16:creationId xmlns:a16="http://schemas.microsoft.com/office/drawing/2014/main" id="{5BB7DF52-1211-FED2-12AB-30970C586650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Developing on MacOS, but deploying on a Linux server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19" name="Groupe 2">
            <a:extLst>
              <a:ext uri="{FF2B5EF4-FFF2-40B4-BE49-F238E27FC236}">
                <a16:creationId xmlns:a16="http://schemas.microsoft.com/office/drawing/2014/main" id="{7BF1A5BA-0834-258D-C98E-ABC6F199E5BD}"/>
              </a:ext>
            </a:extLst>
          </p:cNvPr>
          <p:cNvGrpSpPr/>
          <p:nvPr/>
        </p:nvGrpSpPr>
        <p:grpSpPr>
          <a:xfrm>
            <a:off x="962025" y="6267254"/>
            <a:ext cx="9248775" cy="886058"/>
            <a:chOff x="962025" y="3771900"/>
            <a:chExt cx="6048375" cy="886058"/>
          </a:xfrm>
        </p:grpSpPr>
        <p:grpSp>
          <p:nvGrpSpPr>
            <p:cNvPr id="20" name="Group 2">
              <a:extLst>
                <a:ext uri="{FF2B5EF4-FFF2-40B4-BE49-F238E27FC236}">
                  <a16:creationId xmlns:a16="http://schemas.microsoft.com/office/drawing/2014/main" id="{8DB027DA-649F-9D06-5E44-10AC529455A2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25" name="Freeform 3">
                <a:extLst>
                  <a:ext uri="{FF2B5EF4-FFF2-40B4-BE49-F238E27FC236}">
                    <a16:creationId xmlns:a16="http://schemas.microsoft.com/office/drawing/2014/main" id="{FEBB6BE9-1CBF-DA2C-D1BD-8DC3493296EB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B44C4BF-4CBF-7220-B7AE-A2E34523D66F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153D374B-2ABB-337F-DAD2-DA31F2620E9C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33DC570B-0259-4F9B-35A3-31F33AA04E7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22" name="TextBox 24">
              <a:extLst>
                <a:ext uri="{FF2B5EF4-FFF2-40B4-BE49-F238E27FC236}">
                  <a16:creationId xmlns:a16="http://schemas.microsoft.com/office/drawing/2014/main" id="{34CF57C9-B5AE-5BFB-CBA6-EB43BC1E25E2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Needing different Python versions on the same server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26" name="Groupe 2">
            <a:extLst>
              <a:ext uri="{FF2B5EF4-FFF2-40B4-BE49-F238E27FC236}">
                <a16:creationId xmlns:a16="http://schemas.microsoft.com/office/drawing/2014/main" id="{B6F5B635-DC5A-7E4C-738E-BCE05656DA8B}"/>
              </a:ext>
            </a:extLst>
          </p:cNvPr>
          <p:cNvGrpSpPr/>
          <p:nvPr/>
        </p:nvGrpSpPr>
        <p:grpSpPr>
          <a:xfrm>
            <a:off x="962025" y="7629232"/>
            <a:ext cx="9248775" cy="886058"/>
            <a:chOff x="962025" y="3771900"/>
            <a:chExt cx="6048375" cy="886058"/>
          </a:xfrm>
        </p:grpSpPr>
        <p:grpSp>
          <p:nvGrpSpPr>
            <p:cNvPr id="27" name="Group 2">
              <a:extLst>
                <a:ext uri="{FF2B5EF4-FFF2-40B4-BE49-F238E27FC236}">
                  <a16:creationId xmlns:a16="http://schemas.microsoft.com/office/drawing/2014/main" id="{7984000A-6A8E-0F45-C3F2-830998BEE286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32" name="Freeform 3">
                <a:extLst>
                  <a:ext uri="{FF2B5EF4-FFF2-40B4-BE49-F238E27FC236}">
                    <a16:creationId xmlns:a16="http://schemas.microsoft.com/office/drawing/2014/main" id="{C0299083-5B51-A542-84B1-A79B4E61CC82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5098BAD-1FF3-CA4B-EA61-F46D718CF4D4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CE9CE48A-59E8-E726-4304-BECFAD3D7049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31" name="TextBox 6">
                <a:extLst>
                  <a:ext uri="{FF2B5EF4-FFF2-40B4-BE49-F238E27FC236}">
                    <a16:creationId xmlns:a16="http://schemas.microsoft.com/office/drawing/2014/main" id="{43598641-34E4-6167-A3E1-E5D2D6D0E0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29" name="TextBox 24">
              <a:extLst>
                <a:ext uri="{FF2B5EF4-FFF2-40B4-BE49-F238E27FC236}">
                  <a16:creationId xmlns:a16="http://schemas.microsoft.com/office/drawing/2014/main" id="{C2E23D27-5D3F-486F-3882-6267D43AAD98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Deploying your app faster than ever on a server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0100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E7518-86AD-6E7E-355D-7B37A2879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8">
            <a:extLst>
              <a:ext uri="{FF2B5EF4-FFF2-40B4-BE49-F238E27FC236}">
                <a16:creationId xmlns:a16="http://schemas.microsoft.com/office/drawing/2014/main" id="{645B4132-DCE6-8653-9A93-D41C9BE0333F}"/>
              </a:ext>
            </a:extLst>
          </p:cNvPr>
          <p:cNvSpPr txBox="1"/>
          <p:nvPr/>
        </p:nvSpPr>
        <p:spPr>
          <a:xfrm>
            <a:off x="971550" y="1095375"/>
            <a:ext cx="14756180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noProof="0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Containers for logistics</a:t>
            </a:r>
            <a:r>
              <a:rPr lang="en-US" sz="8800" spc="-75" noProof="0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013AFB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9" name="Espace réservé du numéro de diapositive 88">
            <a:extLst>
              <a:ext uri="{FF2B5EF4-FFF2-40B4-BE49-F238E27FC236}">
                <a16:creationId xmlns:a16="http://schemas.microsoft.com/office/drawing/2014/main" id="{7302BD4F-D36F-D3BA-AFE0-8179BDDB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3</a:t>
            </a:fld>
            <a:r>
              <a:rPr lang="en-US" noProof="0" dirty="0"/>
              <a:t>&gt;</a:t>
            </a:r>
          </a:p>
        </p:txBody>
      </p:sp>
      <p:sp>
        <p:nvSpPr>
          <p:cNvPr id="2" name="Google Shape;87;p16">
            <a:extLst>
              <a:ext uri="{FF2B5EF4-FFF2-40B4-BE49-F238E27FC236}">
                <a16:creationId xmlns:a16="http://schemas.microsoft.com/office/drawing/2014/main" id="{697F1A8B-1A42-384B-CC36-C7CFBC1531FB}"/>
              </a:ext>
            </a:extLst>
          </p:cNvPr>
          <p:cNvSpPr/>
          <p:nvPr/>
        </p:nvSpPr>
        <p:spPr>
          <a:xfrm>
            <a:off x="12820800" y="0"/>
            <a:ext cx="54672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62CB7-0D98-36E0-F6C9-BDACECABB9C1}"/>
              </a:ext>
            </a:extLst>
          </p:cNvPr>
          <p:cNvSpPr txBox="1"/>
          <p:nvPr/>
        </p:nvSpPr>
        <p:spPr>
          <a:xfrm>
            <a:off x="1028700" y="3767225"/>
            <a:ext cx="9791700" cy="4271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Standardized boxes, designed and built for intermodal freight transport.</a:t>
            </a:r>
          </a:p>
          <a:p>
            <a:pPr>
              <a:lnSpc>
                <a:spcPts val="4200"/>
              </a:lnSpc>
              <a:spcBef>
                <a:spcPct val="0"/>
              </a:spcBef>
            </a:pPr>
            <a:b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be used across different modes of transport, from ship to rail to truck, without [</a:t>
            </a:r>
            <a:r>
              <a:rPr lang="en-US" sz="3000" noProof="0" dirty="0" err="1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  <a:t>un|re</a:t>
            </a:r>
            <a: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  <a:t>]loading them.</a:t>
            </a:r>
          </a:p>
          <a:p>
            <a:pPr>
              <a:lnSpc>
                <a:spcPts val="4200"/>
              </a:lnSpc>
              <a:spcBef>
                <a:spcPct val="0"/>
              </a:spcBef>
            </a:pPr>
            <a:b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Management is standardized for all, regardless of its content!</a:t>
            </a:r>
          </a:p>
        </p:txBody>
      </p:sp>
      <p:pic>
        <p:nvPicPr>
          <p:cNvPr id="3" name="Image 3" descr="Une image contenant conteneur de fret, conteneur, conteneur maritime, Transport de marchandises&#10;&#10;Description générée automatiquement">
            <a:extLst>
              <a:ext uri="{FF2B5EF4-FFF2-40B4-BE49-F238E27FC236}">
                <a16:creationId xmlns:a16="http://schemas.microsoft.com/office/drawing/2014/main" id="{047BF3AE-66CF-D2CC-C4D3-66CF86D6418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6200" y="4000500"/>
            <a:ext cx="5888529" cy="392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88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3EC38-51A1-6E3A-6285-AB3B8F543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8">
            <a:extLst>
              <a:ext uri="{FF2B5EF4-FFF2-40B4-BE49-F238E27FC236}">
                <a16:creationId xmlns:a16="http://schemas.microsoft.com/office/drawing/2014/main" id="{53AF8550-ABCF-E9AD-C42D-5A70BF3DB053}"/>
              </a:ext>
            </a:extLst>
          </p:cNvPr>
          <p:cNvSpPr txBox="1"/>
          <p:nvPr/>
        </p:nvSpPr>
        <p:spPr>
          <a:xfrm>
            <a:off x="971550" y="1095375"/>
            <a:ext cx="14756180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noProof="0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Containers for </a:t>
            </a:r>
            <a:r>
              <a:rPr lang="en-US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DevOps</a:t>
            </a:r>
            <a:r>
              <a:rPr lang="en-US" sz="8800" spc="-75" noProof="0" dirty="0">
                <a:solidFill>
                  <a:srgbClr val="FF5F3A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FF5F3A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9" name="Espace réservé du numéro de diapositive 88">
            <a:extLst>
              <a:ext uri="{FF2B5EF4-FFF2-40B4-BE49-F238E27FC236}">
                <a16:creationId xmlns:a16="http://schemas.microsoft.com/office/drawing/2014/main" id="{967242AD-0C10-2AE3-8615-E1135AED9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4</a:t>
            </a:fld>
            <a:r>
              <a:rPr lang="en-US" noProof="0" dirty="0"/>
              <a:t>&gt;</a:t>
            </a:r>
          </a:p>
        </p:txBody>
      </p:sp>
      <p:sp>
        <p:nvSpPr>
          <p:cNvPr id="2" name="Google Shape;87;p16">
            <a:extLst>
              <a:ext uri="{FF2B5EF4-FFF2-40B4-BE49-F238E27FC236}">
                <a16:creationId xmlns:a16="http://schemas.microsoft.com/office/drawing/2014/main" id="{42F29372-103A-D256-5C6B-5A6D2E6B52E9}"/>
              </a:ext>
            </a:extLst>
          </p:cNvPr>
          <p:cNvSpPr/>
          <p:nvPr/>
        </p:nvSpPr>
        <p:spPr>
          <a:xfrm>
            <a:off x="12820800" y="0"/>
            <a:ext cx="54672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172AA-65E0-4B7C-F745-8471306D1E9A}"/>
              </a:ext>
            </a:extLst>
          </p:cNvPr>
          <p:cNvSpPr txBox="1"/>
          <p:nvPr/>
        </p:nvSpPr>
        <p:spPr>
          <a:xfrm>
            <a:off x="1028700" y="3767225"/>
            <a:ext cx="9791700" cy="4271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Standardized boxes, designed and built for application portability.</a:t>
            </a:r>
          </a:p>
          <a:p>
            <a:pPr>
              <a:lnSpc>
                <a:spcPts val="4200"/>
              </a:lnSpc>
              <a:spcBef>
                <a:spcPct val="0"/>
              </a:spcBef>
            </a:pPr>
            <a:b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be used across different OS, from Linux to Windows to Mac, without modifying them.</a:t>
            </a:r>
          </a:p>
          <a:p>
            <a:pPr>
              <a:lnSpc>
                <a:spcPts val="4200"/>
              </a:lnSpc>
              <a:spcBef>
                <a:spcPct val="0"/>
              </a:spcBef>
            </a:pPr>
            <a:b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Management is standardized for all, regardless of its content!</a:t>
            </a:r>
          </a:p>
        </p:txBody>
      </p:sp>
      <p:pic>
        <p:nvPicPr>
          <p:cNvPr id="5" name="Picture 4" descr="A blue whale with a blue whale and a blue whale&#10;&#10;Description automatically generated">
            <a:extLst>
              <a:ext uri="{FF2B5EF4-FFF2-40B4-BE49-F238E27FC236}">
                <a16:creationId xmlns:a16="http://schemas.microsoft.com/office/drawing/2014/main" id="{57021A6E-D51B-BF5A-18D3-E8FB34BFC3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96800" y="3891328"/>
            <a:ext cx="4639411" cy="366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117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033AE-93B0-72F7-ADF7-01ECBC30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8">
            <a:extLst>
              <a:ext uri="{FF2B5EF4-FFF2-40B4-BE49-F238E27FC236}">
                <a16:creationId xmlns:a16="http://schemas.microsoft.com/office/drawing/2014/main" id="{57B93CFA-EBDE-A4B2-CB7E-0F9C0D536E93}"/>
              </a:ext>
            </a:extLst>
          </p:cNvPr>
          <p:cNvSpPr txBox="1"/>
          <p:nvPr/>
        </p:nvSpPr>
        <p:spPr>
          <a:xfrm>
            <a:off x="971550" y="1095375"/>
            <a:ext cx="14756180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noProof="0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Containers for </a:t>
            </a:r>
            <a:r>
              <a:rPr lang="en-US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DevOps</a:t>
            </a:r>
            <a:r>
              <a:rPr lang="en-US" sz="8800" spc="-75" noProof="0" dirty="0">
                <a:solidFill>
                  <a:srgbClr val="00FF97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00FF97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9" name="Espace réservé du numéro de diapositive 88">
            <a:extLst>
              <a:ext uri="{FF2B5EF4-FFF2-40B4-BE49-F238E27FC236}">
                <a16:creationId xmlns:a16="http://schemas.microsoft.com/office/drawing/2014/main" id="{93A203E6-ABB9-FA6B-4942-25D4BFF5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5</a:t>
            </a:fld>
            <a:r>
              <a:rPr lang="en-US" noProof="0" dirty="0"/>
              <a:t>&gt;</a:t>
            </a:r>
          </a:p>
        </p:txBody>
      </p:sp>
      <p:sp>
        <p:nvSpPr>
          <p:cNvPr id="2" name="Google Shape;87;p16">
            <a:extLst>
              <a:ext uri="{FF2B5EF4-FFF2-40B4-BE49-F238E27FC236}">
                <a16:creationId xmlns:a16="http://schemas.microsoft.com/office/drawing/2014/main" id="{92D35B50-1887-FEF9-CE5C-0E1738D2EC8E}"/>
              </a:ext>
            </a:extLst>
          </p:cNvPr>
          <p:cNvSpPr/>
          <p:nvPr/>
        </p:nvSpPr>
        <p:spPr>
          <a:xfrm>
            <a:off x="12820800" y="0"/>
            <a:ext cx="54672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009824-F0D6-776E-D45D-9D0189045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02"/>
          <a:stretch>
            <a:fillRect/>
          </a:stretch>
        </p:blipFill>
        <p:spPr bwMode="auto">
          <a:xfrm>
            <a:off x="4676701" y="2877580"/>
            <a:ext cx="8934599" cy="752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F8F6B2-6F5C-DE23-8C27-91C808B72C91}"/>
              </a:ext>
            </a:extLst>
          </p:cNvPr>
          <p:cNvSpPr txBox="1"/>
          <p:nvPr/>
        </p:nvSpPr>
        <p:spPr>
          <a:xfrm>
            <a:off x="1028700" y="2127870"/>
            <a:ext cx="11468100" cy="501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Containers are isolated but share OS (and sometimes bins &amp; libs).</a:t>
            </a:r>
          </a:p>
        </p:txBody>
      </p:sp>
    </p:spTree>
    <p:extLst>
      <p:ext uri="{BB962C8B-B14F-4D97-AF65-F5344CB8AC3E}">
        <p14:creationId xmlns:p14="http://schemas.microsoft.com/office/powerpoint/2010/main" val="164800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DC76A-2DA6-266F-1A0B-DB974DAB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E5B3DA6-4177-8DFC-AA7E-6B0C35D559B6}"/>
              </a:ext>
            </a:extLst>
          </p:cNvPr>
          <p:cNvSpPr txBox="1"/>
          <p:nvPr/>
        </p:nvSpPr>
        <p:spPr>
          <a:xfrm>
            <a:off x="962025" y="1108692"/>
            <a:ext cx="17554575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The project</a:t>
            </a:r>
            <a:r>
              <a:rPr lang="en-US" sz="8800" spc="-75" noProof="0" dirty="0">
                <a:solidFill>
                  <a:srgbClr val="FF1EF7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FF1EF7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87C88B83-6B62-10B8-CE2A-0B18E377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6</a:t>
            </a:fld>
            <a:r>
              <a:rPr lang="en-US" noProof="0" dirty="0"/>
              <a:t>&gt;</a:t>
            </a:r>
          </a:p>
        </p:txBody>
      </p:sp>
      <p:sp>
        <p:nvSpPr>
          <p:cNvPr id="17" name="Google Shape;83;p16">
            <a:extLst>
              <a:ext uri="{FF2B5EF4-FFF2-40B4-BE49-F238E27FC236}">
                <a16:creationId xmlns:a16="http://schemas.microsoft.com/office/drawing/2014/main" id="{42E69940-2C38-F57F-7782-BF592D6806C7}"/>
              </a:ext>
            </a:extLst>
          </p:cNvPr>
          <p:cNvSpPr/>
          <p:nvPr/>
        </p:nvSpPr>
        <p:spPr>
          <a:xfrm>
            <a:off x="18" y="7553412"/>
            <a:ext cx="27336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6" name="Groupe 2">
            <a:extLst>
              <a:ext uri="{FF2B5EF4-FFF2-40B4-BE49-F238E27FC236}">
                <a16:creationId xmlns:a16="http://schemas.microsoft.com/office/drawing/2014/main" id="{FB084A9F-5BF3-87D0-D40A-EB2867103798}"/>
              </a:ext>
            </a:extLst>
          </p:cNvPr>
          <p:cNvGrpSpPr/>
          <p:nvPr/>
        </p:nvGrpSpPr>
        <p:grpSpPr>
          <a:xfrm>
            <a:off x="6934200" y="2728002"/>
            <a:ext cx="9248775" cy="886058"/>
            <a:chOff x="962025" y="3771900"/>
            <a:chExt cx="6048375" cy="886058"/>
          </a:xfrm>
        </p:grpSpPr>
        <p:grpSp>
          <p:nvGrpSpPr>
            <p:cNvPr id="18" name="Group 2">
              <a:extLst>
                <a:ext uri="{FF2B5EF4-FFF2-40B4-BE49-F238E27FC236}">
                  <a16:creationId xmlns:a16="http://schemas.microsoft.com/office/drawing/2014/main" id="{D9E0886C-F61A-0FCA-35FC-7DCA7AA714A7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27" name="Freeform 3">
                <a:extLst>
                  <a:ext uri="{FF2B5EF4-FFF2-40B4-BE49-F238E27FC236}">
                    <a16:creationId xmlns:a16="http://schemas.microsoft.com/office/drawing/2014/main" id="{336361E9-CE47-D6D2-91B6-50045D7EB3B1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A668470-7266-A7EF-8E69-F94DC0CF530B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EB90B86F-2ABF-C6C6-86A6-7DF0AEFC5007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B2F72318-94D5-8EEB-B11F-4E66F23EE0C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85F5412D-6955-AF68-A98C-3242E5E9DFFA}"/>
                </a:ext>
              </a:extLst>
            </p:cNvPr>
            <p:cNvSpPr txBox="1"/>
            <p:nvPr/>
          </p:nvSpPr>
          <p:spPr>
            <a:xfrm>
              <a:off x="1626119" y="3974006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You must deploy a project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29" name="Groupe 2">
            <a:extLst>
              <a:ext uri="{FF2B5EF4-FFF2-40B4-BE49-F238E27FC236}">
                <a16:creationId xmlns:a16="http://schemas.microsoft.com/office/drawing/2014/main" id="{B2D7D3EC-05E1-555C-637B-326643BDC5C3}"/>
              </a:ext>
            </a:extLst>
          </p:cNvPr>
          <p:cNvGrpSpPr/>
          <p:nvPr/>
        </p:nvGrpSpPr>
        <p:grpSpPr>
          <a:xfrm>
            <a:off x="6934200" y="4018315"/>
            <a:ext cx="9248775" cy="886058"/>
            <a:chOff x="962025" y="3771900"/>
            <a:chExt cx="6048375" cy="886058"/>
          </a:xfrm>
        </p:grpSpPr>
        <p:grpSp>
          <p:nvGrpSpPr>
            <p:cNvPr id="30" name="Group 2">
              <a:extLst>
                <a:ext uri="{FF2B5EF4-FFF2-40B4-BE49-F238E27FC236}">
                  <a16:creationId xmlns:a16="http://schemas.microsoft.com/office/drawing/2014/main" id="{889E5DE8-FA30-40D4-2211-A06CCBECBAA9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35" name="Freeform 3">
                <a:extLst>
                  <a:ext uri="{FF2B5EF4-FFF2-40B4-BE49-F238E27FC236}">
                    <a16:creationId xmlns:a16="http://schemas.microsoft.com/office/drawing/2014/main" id="{75680435-47C5-B20F-574B-CB4B07CBBCAF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2E49FBF-1DA8-5C7E-52CC-3AE3CD6E10CE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D57DCC13-5AC3-C8EE-CA9B-6356B72A0BFE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34" name="TextBox 6">
                <a:extLst>
                  <a:ext uri="{FF2B5EF4-FFF2-40B4-BE49-F238E27FC236}">
                    <a16:creationId xmlns:a16="http://schemas.microsoft.com/office/drawing/2014/main" id="{CFAB3879-CAEF-14D5-BC21-06F2F471D7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2" name="TextBox 24">
              <a:extLst>
                <a:ext uri="{FF2B5EF4-FFF2-40B4-BE49-F238E27FC236}">
                  <a16:creationId xmlns:a16="http://schemas.microsoft.com/office/drawing/2014/main" id="{87E43147-CB8D-D252-243F-18422177785F}"/>
                </a:ext>
              </a:extLst>
            </p:cNvPr>
            <p:cNvSpPr txBox="1"/>
            <p:nvPr/>
          </p:nvSpPr>
          <p:spPr>
            <a:xfrm>
              <a:off x="1626119" y="3997696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sz="2499" b="1" dirty="0">
                  <a:solidFill>
                    <a:srgbClr val="FF5F3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</a:t>
              </a:r>
              <a:r>
                <a:rPr lang="en-US" sz="2499" b="1" dirty="0">
                  <a:solidFill>
                    <a:srgbClr val="FF5F3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services </a:t>
              </a:r>
              <a:r>
                <a:rPr lang="en-US" sz="2499" b="1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=&gt; you’ll need to identify them first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36" name="Groupe 2">
            <a:extLst>
              <a:ext uri="{FF2B5EF4-FFF2-40B4-BE49-F238E27FC236}">
                <a16:creationId xmlns:a16="http://schemas.microsoft.com/office/drawing/2014/main" id="{AA31D517-434F-68C9-E80A-E1FF52F52271}"/>
              </a:ext>
            </a:extLst>
          </p:cNvPr>
          <p:cNvGrpSpPr/>
          <p:nvPr/>
        </p:nvGrpSpPr>
        <p:grpSpPr>
          <a:xfrm>
            <a:off x="6934200" y="5308628"/>
            <a:ext cx="9248775" cy="886058"/>
            <a:chOff x="962025" y="3771900"/>
            <a:chExt cx="6048375" cy="886058"/>
          </a:xfrm>
        </p:grpSpPr>
        <p:grpSp>
          <p:nvGrpSpPr>
            <p:cNvPr id="37" name="Group 2">
              <a:extLst>
                <a:ext uri="{FF2B5EF4-FFF2-40B4-BE49-F238E27FC236}">
                  <a16:creationId xmlns:a16="http://schemas.microsoft.com/office/drawing/2014/main" id="{3945DC21-06DA-3E1C-7949-0859D0DA3E95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43" name="Freeform 3">
                <a:extLst>
                  <a:ext uri="{FF2B5EF4-FFF2-40B4-BE49-F238E27FC236}">
                    <a16:creationId xmlns:a16="http://schemas.microsoft.com/office/drawing/2014/main" id="{08CD35AF-A557-12AE-69AD-3932AF492C6D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A97C6F4-E681-C2E1-774E-C3B8159D4DF6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40" name="Freeform 5">
                <a:extLst>
                  <a:ext uri="{FF2B5EF4-FFF2-40B4-BE49-F238E27FC236}">
                    <a16:creationId xmlns:a16="http://schemas.microsoft.com/office/drawing/2014/main" id="{CE1F306E-55AF-B2C0-FA3F-9F2D8E54ECD2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05148D70-AC43-7E7A-D609-A69F3E123BE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9" name="TextBox 24">
              <a:extLst>
                <a:ext uri="{FF2B5EF4-FFF2-40B4-BE49-F238E27FC236}">
                  <a16:creationId xmlns:a16="http://schemas.microsoft.com/office/drawing/2014/main" id="{FC3D5361-0BBA-DFBA-5469-826FBFDD4344}"/>
                </a:ext>
              </a:extLst>
            </p:cNvPr>
            <p:cNvSpPr txBox="1"/>
            <p:nvPr/>
          </p:nvSpPr>
          <p:spPr>
            <a:xfrm>
              <a:off x="1626119" y="3974565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The version of each service is not the latest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44" name="Groupe 2">
            <a:extLst>
              <a:ext uri="{FF2B5EF4-FFF2-40B4-BE49-F238E27FC236}">
                <a16:creationId xmlns:a16="http://schemas.microsoft.com/office/drawing/2014/main" id="{B53B8B6B-75C6-5BEC-788D-00A3502EE030}"/>
              </a:ext>
            </a:extLst>
          </p:cNvPr>
          <p:cNvGrpSpPr/>
          <p:nvPr/>
        </p:nvGrpSpPr>
        <p:grpSpPr>
          <a:xfrm>
            <a:off x="6934200" y="6598941"/>
            <a:ext cx="9248775" cy="886058"/>
            <a:chOff x="962025" y="3771900"/>
            <a:chExt cx="6048375" cy="886058"/>
          </a:xfrm>
        </p:grpSpPr>
        <p:grpSp>
          <p:nvGrpSpPr>
            <p:cNvPr id="46" name="Group 2">
              <a:extLst>
                <a:ext uri="{FF2B5EF4-FFF2-40B4-BE49-F238E27FC236}">
                  <a16:creationId xmlns:a16="http://schemas.microsoft.com/office/drawing/2014/main" id="{29739B6C-EB8C-3FE4-A4E8-F0ED12EF345F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52" name="Freeform 3">
                <a:extLst>
                  <a:ext uri="{FF2B5EF4-FFF2-40B4-BE49-F238E27FC236}">
                    <a16:creationId xmlns:a16="http://schemas.microsoft.com/office/drawing/2014/main" id="{6FC62BBE-075D-570F-453E-5827BD47EFCC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CF4E7B7-91FE-8C92-9276-F62932D9B6DD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50" name="Freeform 5">
                <a:extLst>
                  <a:ext uri="{FF2B5EF4-FFF2-40B4-BE49-F238E27FC236}">
                    <a16:creationId xmlns:a16="http://schemas.microsoft.com/office/drawing/2014/main" id="{B99133F7-5836-7136-201F-37EFE87A4E6C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51" name="TextBox 6">
                <a:extLst>
                  <a:ext uri="{FF2B5EF4-FFF2-40B4-BE49-F238E27FC236}">
                    <a16:creationId xmlns:a16="http://schemas.microsoft.com/office/drawing/2014/main" id="{2AB2DE47-4AAA-6154-6D04-5777DD32D77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48" name="TextBox 24">
              <a:extLst>
                <a:ext uri="{FF2B5EF4-FFF2-40B4-BE49-F238E27FC236}">
                  <a16:creationId xmlns:a16="http://schemas.microsoft.com/office/drawing/2014/main" id="{F25884FD-30C0-1EDF-DD17-1E4225925C85}"/>
                </a:ext>
              </a:extLst>
            </p:cNvPr>
            <p:cNvSpPr txBox="1"/>
            <p:nvPr/>
          </p:nvSpPr>
          <p:spPr>
            <a:xfrm>
              <a:off x="1626119" y="3968876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You need to find out which one is the correct one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pic>
        <p:nvPicPr>
          <p:cNvPr id="3" name="Image 4" descr="Une image contenant clipart, dessin humoristique, illustration, dessin&#10;&#10;Description générée automatiquement">
            <a:extLst>
              <a:ext uri="{FF2B5EF4-FFF2-40B4-BE49-F238E27FC236}">
                <a16:creationId xmlns:a16="http://schemas.microsoft.com/office/drawing/2014/main" id="{6D08BEA0-8D57-9B0E-2856-1F18D9E3455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025" y="2728002"/>
            <a:ext cx="4053922" cy="3924301"/>
          </a:xfrm>
          <a:prstGeom prst="rect">
            <a:avLst/>
          </a:prstGeom>
        </p:spPr>
      </p:pic>
      <p:grpSp>
        <p:nvGrpSpPr>
          <p:cNvPr id="4" name="Groupe 2">
            <a:extLst>
              <a:ext uri="{FF2B5EF4-FFF2-40B4-BE49-F238E27FC236}">
                <a16:creationId xmlns:a16="http://schemas.microsoft.com/office/drawing/2014/main" id="{2A926879-94D9-A1CB-A971-3EC458AC8448}"/>
              </a:ext>
            </a:extLst>
          </p:cNvPr>
          <p:cNvGrpSpPr/>
          <p:nvPr/>
        </p:nvGrpSpPr>
        <p:grpSpPr>
          <a:xfrm>
            <a:off x="6934200" y="7889255"/>
            <a:ext cx="9248775" cy="886058"/>
            <a:chOff x="962025" y="3771900"/>
            <a:chExt cx="6048375" cy="886058"/>
          </a:xfrm>
        </p:grpSpPr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0286CCD8-EA75-4353-47DE-5E1D59DB344C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10" name="Freeform 3">
                <a:extLst>
                  <a:ext uri="{FF2B5EF4-FFF2-40B4-BE49-F238E27FC236}">
                    <a16:creationId xmlns:a16="http://schemas.microsoft.com/office/drawing/2014/main" id="{7F697175-58CB-F685-3452-55E21D2BC3A4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EA9B6-F8F3-7E71-2988-C4ECE6635B7C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EB53613F-7910-BB6C-6258-40B2B2CB21CE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9A05E341-84A7-7DCD-7C84-D3035BE62AB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7" name="TextBox 24">
              <a:extLst>
                <a:ext uri="{FF2B5EF4-FFF2-40B4-BE49-F238E27FC236}">
                  <a16:creationId xmlns:a16="http://schemas.microsoft.com/office/drawing/2014/main" id="{CA943197-D2F0-F0DA-B922-6274DC33BA54}"/>
                </a:ext>
              </a:extLst>
            </p:cNvPr>
            <p:cNvSpPr txBox="1"/>
            <p:nvPr/>
          </p:nvSpPr>
          <p:spPr>
            <a:xfrm>
              <a:off x="1626119" y="3994353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sz="2499" b="1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</a:t>
              </a:r>
              <a:r>
                <a:rPr lang="en-US" sz="2499" b="1" dirty="0" err="1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ou’ll</a:t>
              </a:r>
              <a:r>
                <a:rPr lang="en-US" sz="2499" b="1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use Docker in other projects =&gt; </a:t>
              </a:r>
              <a:r>
                <a:rPr lang="en-US" sz="2499" b="1" dirty="0">
                  <a:solidFill>
                    <a:srgbClr val="FF5F3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So work hard!</a:t>
              </a:r>
              <a:endParaRPr lang="en-US" sz="2499" b="1" noProof="0" dirty="0">
                <a:solidFill>
                  <a:srgbClr val="FF5F3A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0621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C3854-C146-FA63-4D2A-8E4A1F47D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5589D28-1AF2-CA69-B07F-09F3AA0FEA48}"/>
              </a:ext>
            </a:extLst>
          </p:cNvPr>
          <p:cNvSpPr txBox="1"/>
          <p:nvPr/>
        </p:nvSpPr>
        <p:spPr>
          <a:xfrm>
            <a:off x="962025" y="1108692"/>
            <a:ext cx="17554575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Best practices</a:t>
            </a:r>
            <a:r>
              <a:rPr lang="en-US" sz="8800" spc="-75" noProof="0" dirty="0">
                <a:solidFill>
                  <a:srgbClr val="FF5F3A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FF5F3A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21C44ACA-08AE-F055-15E7-6A37F751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7</a:t>
            </a:fld>
            <a:r>
              <a:rPr lang="en-US" noProof="0" dirty="0"/>
              <a:t>&gt;</a:t>
            </a:r>
          </a:p>
        </p:txBody>
      </p:sp>
      <p:sp>
        <p:nvSpPr>
          <p:cNvPr id="17" name="Google Shape;83;p16">
            <a:extLst>
              <a:ext uri="{FF2B5EF4-FFF2-40B4-BE49-F238E27FC236}">
                <a16:creationId xmlns:a16="http://schemas.microsoft.com/office/drawing/2014/main" id="{032A128C-EBC2-42F9-9A12-90799E013AC8}"/>
              </a:ext>
            </a:extLst>
          </p:cNvPr>
          <p:cNvSpPr/>
          <p:nvPr/>
        </p:nvSpPr>
        <p:spPr>
          <a:xfrm>
            <a:off x="18" y="7553412"/>
            <a:ext cx="27336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6" name="Groupe 2">
            <a:extLst>
              <a:ext uri="{FF2B5EF4-FFF2-40B4-BE49-F238E27FC236}">
                <a16:creationId xmlns:a16="http://schemas.microsoft.com/office/drawing/2014/main" id="{0840D261-6B81-AC35-403E-9F54C3B41CCB}"/>
              </a:ext>
            </a:extLst>
          </p:cNvPr>
          <p:cNvGrpSpPr/>
          <p:nvPr/>
        </p:nvGrpSpPr>
        <p:grpSpPr>
          <a:xfrm>
            <a:off x="6934200" y="2728002"/>
            <a:ext cx="9248775" cy="886058"/>
            <a:chOff x="962025" y="3771900"/>
            <a:chExt cx="6048375" cy="886058"/>
          </a:xfrm>
        </p:grpSpPr>
        <p:grpSp>
          <p:nvGrpSpPr>
            <p:cNvPr id="18" name="Group 2">
              <a:extLst>
                <a:ext uri="{FF2B5EF4-FFF2-40B4-BE49-F238E27FC236}">
                  <a16:creationId xmlns:a16="http://schemas.microsoft.com/office/drawing/2014/main" id="{D7186CA1-8499-9AA8-399F-16137090E044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27" name="Freeform 3">
                <a:extLst>
                  <a:ext uri="{FF2B5EF4-FFF2-40B4-BE49-F238E27FC236}">
                    <a16:creationId xmlns:a16="http://schemas.microsoft.com/office/drawing/2014/main" id="{42BE519A-2974-005C-5F01-4951D905701E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E5A90C5-C951-2B99-7D8C-466BB5079B79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EB4419C4-2436-D146-C193-D0E53A623C8A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F0C53A1D-EF0A-D408-59C4-48C64F0918E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33D43301-FE31-BA8A-E327-0E8738B102EB}"/>
                </a:ext>
              </a:extLst>
            </p:cNvPr>
            <p:cNvSpPr txBox="1"/>
            <p:nvPr/>
          </p:nvSpPr>
          <p:spPr>
            <a:xfrm>
              <a:off x="1626119" y="3974006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Follow the </a:t>
              </a:r>
              <a:r>
                <a:rPr lang="en-US" sz="2499" noProof="0" dirty="0">
                  <a:solidFill>
                    <a:srgbClr val="FF5F3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KISS principle</a:t>
              </a:r>
              <a:endParaRPr lang="en-US" sz="2499" noProof="0" dirty="0">
                <a:solidFill>
                  <a:srgbClr val="FF5F3A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29" name="Groupe 2">
            <a:extLst>
              <a:ext uri="{FF2B5EF4-FFF2-40B4-BE49-F238E27FC236}">
                <a16:creationId xmlns:a16="http://schemas.microsoft.com/office/drawing/2014/main" id="{E1900508-4AC3-4995-3F3E-FB8149CBE1EA}"/>
              </a:ext>
            </a:extLst>
          </p:cNvPr>
          <p:cNvGrpSpPr/>
          <p:nvPr/>
        </p:nvGrpSpPr>
        <p:grpSpPr>
          <a:xfrm>
            <a:off x="6934200" y="4018315"/>
            <a:ext cx="9248775" cy="886058"/>
            <a:chOff x="962025" y="3771900"/>
            <a:chExt cx="6048375" cy="886058"/>
          </a:xfrm>
        </p:grpSpPr>
        <p:grpSp>
          <p:nvGrpSpPr>
            <p:cNvPr id="30" name="Group 2">
              <a:extLst>
                <a:ext uri="{FF2B5EF4-FFF2-40B4-BE49-F238E27FC236}">
                  <a16:creationId xmlns:a16="http://schemas.microsoft.com/office/drawing/2014/main" id="{72A1A0B8-D63C-E8CE-83ED-BDE539DBE709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35" name="Freeform 3">
                <a:extLst>
                  <a:ext uri="{FF2B5EF4-FFF2-40B4-BE49-F238E27FC236}">
                    <a16:creationId xmlns:a16="http://schemas.microsoft.com/office/drawing/2014/main" id="{376154B9-8AAF-0B3C-51C0-B28CF31C1549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28464E6-52B9-D16A-493D-8A308F03C818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1223E574-045D-D45A-DC5A-50B2BF527AD7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34" name="TextBox 6">
                <a:extLst>
                  <a:ext uri="{FF2B5EF4-FFF2-40B4-BE49-F238E27FC236}">
                    <a16:creationId xmlns:a16="http://schemas.microsoft.com/office/drawing/2014/main" id="{662C1094-D31A-AF98-89CD-6ECFAA6F498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2" name="TextBox 24">
              <a:extLst>
                <a:ext uri="{FF2B5EF4-FFF2-40B4-BE49-F238E27FC236}">
                  <a16:creationId xmlns:a16="http://schemas.microsoft.com/office/drawing/2014/main" id="{9EF11031-7448-5ED8-265A-ED5251421CAE}"/>
                </a:ext>
              </a:extLst>
            </p:cNvPr>
            <p:cNvSpPr txBox="1"/>
            <p:nvPr/>
          </p:nvSpPr>
          <p:spPr>
            <a:xfrm>
              <a:off x="1626119" y="3997696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b="1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Use official images as base</a:t>
              </a:r>
            </a:p>
          </p:txBody>
        </p:sp>
      </p:grpSp>
      <p:grpSp>
        <p:nvGrpSpPr>
          <p:cNvPr id="36" name="Groupe 2">
            <a:extLst>
              <a:ext uri="{FF2B5EF4-FFF2-40B4-BE49-F238E27FC236}">
                <a16:creationId xmlns:a16="http://schemas.microsoft.com/office/drawing/2014/main" id="{B0F8C1B7-FB76-543A-9C7D-81BBCFDB53F9}"/>
              </a:ext>
            </a:extLst>
          </p:cNvPr>
          <p:cNvGrpSpPr/>
          <p:nvPr/>
        </p:nvGrpSpPr>
        <p:grpSpPr>
          <a:xfrm>
            <a:off x="6934200" y="5308628"/>
            <a:ext cx="9248775" cy="886058"/>
            <a:chOff x="962025" y="3771900"/>
            <a:chExt cx="6048375" cy="886058"/>
          </a:xfrm>
        </p:grpSpPr>
        <p:grpSp>
          <p:nvGrpSpPr>
            <p:cNvPr id="37" name="Group 2">
              <a:extLst>
                <a:ext uri="{FF2B5EF4-FFF2-40B4-BE49-F238E27FC236}">
                  <a16:creationId xmlns:a16="http://schemas.microsoft.com/office/drawing/2014/main" id="{31069E33-7128-CFE2-E6F1-E11910542B8F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43" name="Freeform 3">
                <a:extLst>
                  <a:ext uri="{FF2B5EF4-FFF2-40B4-BE49-F238E27FC236}">
                    <a16:creationId xmlns:a16="http://schemas.microsoft.com/office/drawing/2014/main" id="{B14F5ECD-3380-FA82-8613-F2A0A9F9D7EB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F85B0C8-64DD-8C15-503F-6158D2C573D8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40" name="Freeform 5">
                <a:extLst>
                  <a:ext uri="{FF2B5EF4-FFF2-40B4-BE49-F238E27FC236}">
                    <a16:creationId xmlns:a16="http://schemas.microsoft.com/office/drawing/2014/main" id="{9355CCB5-D884-02AE-9612-8B1B81F0D67E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E6F4EA1E-8262-6FC2-E14C-256D6AD654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9" name="TextBox 24">
              <a:extLst>
                <a:ext uri="{FF2B5EF4-FFF2-40B4-BE49-F238E27FC236}">
                  <a16:creationId xmlns:a16="http://schemas.microsoft.com/office/drawing/2014/main" id="{06AEFAE7-4A1D-677F-16C6-E0CCF60A46D4}"/>
                </a:ext>
              </a:extLst>
            </p:cNvPr>
            <p:cNvSpPr txBox="1"/>
            <p:nvPr/>
          </p:nvSpPr>
          <p:spPr>
            <a:xfrm>
              <a:off x="1626119" y="3974565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One app per container</a:t>
              </a:r>
            </a:p>
          </p:txBody>
        </p:sp>
      </p:grpSp>
      <p:grpSp>
        <p:nvGrpSpPr>
          <p:cNvPr id="44" name="Groupe 2">
            <a:extLst>
              <a:ext uri="{FF2B5EF4-FFF2-40B4-BE49-F238E27FC236}">
                <a16:creationId xmlns:a16="http://schemas.microsoft.com/office/drawing/2014/main" id="{9BEE132D-E8FD-51E2-BAF1-CF961EA7C93B}"/>
              </a:ext>
            </a:extLst>
          </p:cNvPr>
          <p:cNvGrpSpPr/>
          <p:nvPr/>
        </p:nvGrpSpPr>
        <p:grpSpPr>
          <a:xfrm>
            <a:off x="6934200" y="6598941"/>
            <a:ext cx="9372600" cy="886058"/>
            <a:chOff x="962025" y="3771900"/>
            <a:chExt cx="6129352" cy="886058"/>
          </a:xfrm>
        </p:grpSpPr>
        <p:grpSp>
          <p:nvGrpSpPr>
            <p:cNvPr id="46" name="Group 2">
              <a:extLst>
                <a:ext uri="{FF2B5EF4-FFF2-40B4-BE49-F238E27FC236}">
                  <a16:creationId xmlns:a16="http://schemas.microsoft.com/office/drawing/2014/main" id="{27B76E58-CE91-5DB8-CDE1-766A3C096625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52" name="Freeform 3">
                <a:extLst>
                  <a:ext uri="{FF2B5EF4-FFF2-40B4-BE49-F238E27FC236}">
                    <a16:creationId xmlns:a16="http://schemas.microsoft.com/office/drawing/2014/main" id="{2D79236D-A8DD-C7D7-7085-DB7021137C72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6998C0D-76A9-85FC-8079-CFC4843E3D51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50" name="Freeform 5">
                <a:extLst>
                  <a:ext uri="{FF2B5EF4-FFF2-40B4-BE49-F238E27FC236}">
                    <a16:creationId xmlns:a16="http://schemas.microsoft.com/office/drawing/2014/main" id="{4CA44C74-4747-D61F-D722-A839184105F1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51" name="TextBox 6">
                <a:extLst>
                  <a:ext uri="{FF2B5EF4-FFF2-40B4-BE49-F238E27FC236}">
                    <a16:creationId xmlns:a16="http://schemas.microsoft.com/office/drawing/2014/main" id="{1141982A-474B-37A5-BFC5-557218A2E15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48" name="TextBox 24">
              <a:extLst>
                <a:ext uri="{FF2B5EF4-FFF2-40B4-BE49-F238E27FC236}">
                  <a16:creationId xmlns:a16="http://schemas.microsoft.com/office/drawing/2014/main" id="{34136C68-8637-8F9B-439B-CBAD96DC21A2}"/>
                </a:ext>
              </a:extLst>
            </p:cNvPr>
            <p:cNvSpPr txBox="1"/>
            <p:nvPr/>
          </p:nvSpPr>
          <p:spPr>
            <a:xfrm>
              <a:off x="1626119" y="3833274"/>
              <a:ext cx="5465258" cy="7691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NEVER commit sensitive data</a:t>
              </a:r>
            </a:p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(such as .env/passwords)</a:t>
              </a:r>
            </a:p>
          </p:txBody>
        </p:sp>
      </p:grpSp>
      <p:pic>
        <p:nvPicPr>
          <p:cNvPr id="13" name="Picture 12" descr="A yellow medal with green ribbons&#10;&#10;AI-generated content may be incorrect.">
            <a:extLst>
              <a:ext uri="{FF2B5EF4-FFF2-40B4-BE49-F238E27FC236}">
                <a16:creationId xmlns:a16="http://schemas.microsoft.com/office/drawing/2014/main" id="{17481601-2E18-B42E-E8D5-D5F3D0F88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2701963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27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1604BFE-B48A-8956-D03B-5E09D5178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49" y="4149328"/>
            <a:ext cx="10931825" cy="198834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QUESTIONS?</a:t>
            </a:r>
          </a:p>
        </p:txBody>
      </p:sp>
      <p:sp>
        <p:nvSpPr>
          <p:cNvPr id="2" name="Espace réservé du numéro de diapositive 20">
            <a:extLst>
              <a:ext uri="{FF2B5EF4-FFF2-40B4-BE49-F238E27FC236}">
                <a16:creationId xmlns:a16="http://schemas.microsoft.com/office/drawing/2014/main" id="{3F68261F-33C5-185C-8604-60E80B5B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&lt;</a:t>
            </a:r>
            <a:fld id="{B6F15528-21DE-4FAA-801E-634DDDAF4B2B}" type="slidenum">
              <a:rPr lang="en-US" noProof="0" smtClean="0">
                <a:solidFill>
                  <a:schemeClr val="bg1"/>
                </a:solidFill>
              </a:rPr>
              <a:pPr/>
              <a:t>8</a:t>
            </a:fld>
            <a:r>
              <a:rPr lang="en-US" noProof="0" dirty="0">
                <a:solidFill>
                  <a:schemeClr val="bg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97346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3924</TotalTime>
  <Words>265</Words>
  <Application>Microsoft Office PowerPoint</Application>
  <PresentationFormat>Custom</PresentationFormat>
  <Paragraphs>41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IBM Plex Sans</vt:lpstr>
      <vt:lpstr>Calibri</vt:lpstr>
      <vt:lpstr>IBM Plex Sans Bold</vt:lpstr>
      <vt:lpstr>Aptos</vt:lpstr>
      <vt:lpstr>Arial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Réunion rentrée PGE3</dc:title>
  <dc:creator>Victor</dc:creator>
  <cp:lastModifiedBy>Victor Trencic</cp:lastModifiedBy>
  <cp:revision>860</cp:revision>
  <dcterms:created xsi:type="dcterms:W3CDTF">2006-08-16T00:00:00Z</dcterms:created>
  <dcterms:modified xsi:type="dcterms:W3CDTF">2025-11-28T14:56:37Z</dcterms:modified>
  <dc:identifier>DAGxLhWiRSg</dc:identifier>
</cp:coreProperties>
</file>